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09560" y="-137160"/>
            <a:ext cx="4572000" cy="7178040"/>
          </a:xfrm>
          <a:prstGeom prst="roundRect">
            <a:avLst>
              <a:gd name="adj" fmla="val 10000"/>
            </a:avLst>
          </a:prstGeom>
          <a:solidFill>
            <a:srgbClr val="19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868680"/>
            <a:ext cx="1234440" cy="1234440"/>
          </a:xfrm>
          <a:prstGeom prst="ellipse">
            <a:avLst/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1280160"/>
            <a:ext cx="411480" cy="411480"/>
          </a:xfrm>
          <a:prstGeom prst="ellipse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2331720"/>
            <a:ext cx="777240" cy="777240"/>
          </a:xfrm>
          <a:prstGeom prst="ellipse">
            <a:avLst/>
          </a:prstGeom>
          <a:solidFill>
            <a:srgbClr val="F6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08792" y="2587752"/>
            <a:ext cx="256032" cy="256032"/>
          </a:xfrm>
          <a:prstGeom prst="ellipse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06840" y="1828800"/>
            <a:ext cx="100584" cy="1005840"/>
          </a:xfrm>
          <a:prstGeom prst="roundRect">
            <a:avLst>
              <a:gd name="adj" fmla="val 10000"/>
            </a:avLst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46920" y="2560320"/>
            <a:ext cx="1417320" cy="91440"/>
          </a:xfrm>
          <a:prstGeom prst="roundRect">
            <a:avLst>
              <a:gd name="adj" fmla="val 10000"/>
            </a:avLst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0" y="3337560"/>
            <a:ext cx="2423160" cy="91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0" y="4069080"/>
            <a:ext cx="2834640" cy="91440"/>
          </a:xfrm>
          <a:prstGeom prst="roundRect">
            <a:avLst>
              <a:gd name="adj" fmla="val 10000"/>
            </a:avLst>
          </a:prstGeom>
          <a:solidFill>
            <a:srgbClr val="F6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15400" y="1783080"/>
            <a:ext cx="347472" cy="347472"/>
          </a:xfrm>
          <a:prstGeom prst="ellipse">
            <a:avLst/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27080" y="2395728"/>
            <a:ext cx="347472" cy="347472"/>
          </a:xfrm>
          <a:prstGeom prst="ellipse">
            <a:avLst/>
          </a:prstGeom>
          <a:solidFill>
            <a:srgbClr val="F6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01400" y="3209544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0" y="3941063"/>
            <a:ext cx="347472" cy="347472"/>
          </a:xfrm>
          <a:prstGeom prst="ellipse">
            <a:avLst/>
          </a:prstGeom>
          <a:solidFill>
            <a:srgbClr val="F6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58368"/>
            <a:ext cx="6217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DBFAB"/>
                </a:solidFill>
                <a:latin typeface="Aptos"/>
              </a:defRPr>
            </a:pPr>
            <a:r>
              <a:t>BST HACKATHON 2026  /  PROJECT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463040"/>
            <a:ext cx="62179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5200" b="1">
                <a:solidFill>
                  <a:srgbClr val="FFFFFF"/>
                </a:solidFill>
                <a:latin typeface="Aptos"/>
              </a:defRPr>
            </a:pPr>
            <a:r>
              <a:t>WAYLO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560320"/>
            <a:ext cx="612648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DAE6F0"/>
                </a:solidFill>
                <a:latin typeface="Aptos"/>
              </a:defRPr>
            </a:pPr>
            <a:r>
              <a:t>Same direction.</a:t>
            </a:r>
          </a:p>
          <a:p>
            <a:pPr algn="l">
              <a:spcAft>
                <a:spcPts val="500"/>
              </a:spcAft>
              <a:defRPr sz="2300" b="1">
                <a:solidFill>
                  <a:srgbClr val="DAE6F0"/>
                </a:solidFill>
                <a:latin typeface="Aptos"/>
              </a:defRPr>
            </a:pPr>
            <a:r>
              <a:t>Shared journey.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57600"/>
            <a:ext cx="1005840" cy="54864"/>
          </a:xfrm>
          <a:prstGeom prst="roundRect">
            <a:avLst>
              <a:gd name="adj" fmla="val 10000"/>
            </a:avLst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05072"/>
            <a:ext cx="585216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A smarter way to match commuters,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share travel costs, and build trust.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6217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BCADB"/>
                </a:solidFill>
                <a:latin typeface="Aptos"/>
              </a:defRPr>
            </a:pPr>
            <a:r>
              <a:t>Team details: to be added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ABBCCF"/>
                </a:solidFill>
                <a:latin typeface="Aptos"/>
              </a:defRPr>
            </a:pPr>
            <a:r>
              <a:t>WAYLO  /  BST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BBCC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8229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DBFAB"/>
                </a:solidFill>
                <a:latin typeface="Aptos"/>
              </a:defRPr>
            </a:pPr>
            <a: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C30"/>
                </a:solidFill>
                <a:latin typeface="Aptos"/>
              </a:defRPr>
            </a:pPr>
            <a:r>
              <a:t>A shared route doesn't always become a shared ride.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98448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97789"/>
                </a:solidFill>
                <a:latin typeface="Aptos"/>
              </a:defRPr>
            </a:pPr>
            <a:r>
              <a:t>Commuters often travel alone—even when their routes and schedules overlap.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29000" cy="3154680"/>
          </a:xfrm>
          <a:prstGeom prst="roundRect">
            <a:avLst>
              <a:gd name="adj" fmla="val 10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212848"/>
            <a:ext cx="438912" cy="438912"/>
          </a:xfrm>
          <a:prstGeom prst="ellipse">
            <a:avLst/>
          </a:prstGeom>
          <a:solidFill>
            <a:srgbClr val="5B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2257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16352"/>
            <a:ext cx="3017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21C30"/>
                </a:solidFill>
                <a:latin typeface="Aptos"/>
              </a:defRPr>
            </a:pPr>
            <a:r>
              <a:t>Hard to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91840"/>
            <a:ext cx="3017520" cy="1801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22E40"/>
                </a:solidFill>
                <a:latin typeface="Aptos"/>
              </a:defRPr>
            </a:pPr>
            <a:r>
              <a:t>Finding people travelling in the same direction at a similar time takes effort.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429000" cy="3154680"/>
          </a:xfrm>
          <a:prstGeom prst="roundRect">
            <a:avLst>
              <a:gd name="adj" fmla="val 10000"/>
            </a:avLst>
          </a:prstGeom>
          <a:solidFill>
            <a:srgbClr val="FFF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0288" y="2212848"/>
            <a:ext cx="438912" cy="438912"/>
          </a:xfrm>
          <a:prstGeom prst="ellipse">
            <a:avLst/>
          </a:prstGeom>
          <a:solidFill>
            <a:srgbClr val="F6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32257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1C3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16352"/>
            <a:ext cx="3017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21C30"/>
                </a:solidFill>
                <a:latin typeface="Aptos"/>
              </a:defRPr>
            </a:pPr>
            <a:r>
              <a:t>Awkward cost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291840"/>
            <a:ext cx="3017520" cy="1801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22E40"/>
                </a:solidFill>
                <a:latin typeface="Aptos"/>
              </a:defRPr>
            </a:pPr>
            <a:r>
              <a:t>Without a clear method, deciding who pays what can feel unfair or uncomfortable.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429000" cy="3154680"/>
          </a:xfrm>
          <a:prstGeom prst="roundRect">
            <a:avLst>
              <a:gd name="adj" fmla="val 10000"/>
            </a:avLst>
          </a:prstGeom>
          <a:solidFill>
            <a:srgbClr val="E2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9328" y="2212848"/>
            <a:ext cx="438912" cy="438912"/>
          </a:xfrm>
          <a:prstGeom prst="ellipse">
            <a:avLst/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32257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816352"/>
            <a:ext cx="3017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21C30"/>
                </a:solidFill>
                <a:latin typeface="Aptos"/>
              </a:defRPr>
            </a:pPr>
            <a:r>
              <a:t>Trust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291840"/>
            <a:ext cx="3017520" cy="1801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22E40"/>
                </a:solidFill>
                <a:latin typeface="Aptos"/>
              </a:defRPr>
            </a:pPr>
            <a:r>
              <a:t>People may hesitate to ride with strangers without useful information and safety options.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77840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21C30"/>
                </a:solidFill>
                <a:latin typeface="Aptos"/>
              </a:defRPr>
            </a:pPr>
            <a:r>
              <a:t>The opportunity: make carpooling easier to discover, fairer to coordinate, and safer to consider.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97789"/>
                </a:solidFill>
                <a:latin typeface="Aptos"/>
              </a:defRPr>
            </a:pPr>
            <a:r>
              <a:t>WAYLO  /  BST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78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8229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DBFAB"/>
                </a:solidFill>
                <a:latin typeface="Aptos"/>
              </a:defRPr>
            </a:pPr>
            <a:r>
              <a:t>02 / WHO IS AFFECTED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C30"/>
                </a:solidFill>
                <a:latin typeface="Aptos"/>
              </a:defRPr>
            </a:pPr>
            <a:r>
              <a:t>Built around the everyday commuter.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98448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97789"/>
                </a:solidFill>
                <a:latin typeface="Aptos"/>
              </a:defRPr>
            </a:pPr>
            <a:r>
              <a:t>Students and regular commuters are a clear starting audience for a practical first version.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166360" cy="361188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331720"/>
            <a:ext cx="713232" cy="713232"/>
          </a:xfrm>
          <a:prstGeom prst="ellipse">
            <a:avLst/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46888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33856" y="2761488"/>
            <a:ext cx="438912" cy="182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2404872"/>
            <a:ext cx="3291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A typical commuter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4434840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1E9F2"/>
                </a:solidFill>
                <a:latin typeface="Aptos"/>
              </a:defRPr>
            </a:pPr>
            <a:r>
              <a:t>• Travels at a predictable time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E1E9F2"/>
                </a:solidFill>
                <a:latin typeface="Aptos"/>
              </a:defRPr>
            </a:pPr>
            <a:r>
              <a:t>• May share part of a route with others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E1E9F2"/>
                </a:solidFill>
                <a:latin typeface="Aptos"/>
              </a:defRPr>
            </a:pPr>
            <a:r>
              <a:t>• Wants lower travel costs and less hassle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E1E9F2"/>
                </a:solidFill>
                <a:latin typeface="Aptos"/>
              </a:defRPr>
            </a:pPr>
            <a:r>
              <a:t>• Needs confidence before sharing a ride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21C30"/>
                </a:solidFill>
                <a:latin typeface="Aptos"/>
              </a:defRPr>
            </a:pPr>
            <a:r>
              <a:t>What matters to them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2852928"/>
            <a:ext cx="274320" cy="274320"/>
          </a:xfrm>
          <a:prstGeom prst="ellipse">
            <a:avLst/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28346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21C30"/>
                </a:solidFill>
                <a:latin typeface="Aptos"/>
              </a:defRPr>
            </a:pPr>
            <a:r>
              <a:t>Convenience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34640"/>
            <a:ext cx="2834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97789"/>
                </a:solidFill>
                <a:latin typeface="Aptos"/>
              </a:defRPr>
            </a:pPr>
            <a:r>
              <a:t>Find compatible rides without endless coordination.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3675888"/>
            <a:ext cx="274320" cy="274320"/>
          </a:xfrm>
          <a:prstGeom prst="ellipse">
            <a:avLst/>
          </a:prstGeom>
          <a:solidFill>
            <a:srgbClr val="F6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365760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21C30"/>
                </a:solidFill>
                <a:latin typeface="Aptos"/>
              </a:defRPr>
            </a:pPr>
            <a:r>
              <a:t>Fairness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657600"/>
            <a:ext cx="2834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97789"/>
                </a:solidFill>
                <a:latin typeface="Aptos"/>
              </a:defRPr>
            </a:pPr>
            <a:r>
              <a:t>See a transparent cost estimate before accepting.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4498848"/>
            <a:ext cx="274320" cy="274320"/>
          </a:xfrm>
          <a:prstGeom prst="ellipse">
            <a:avLst/>
          </a:prstGeom>
          <a:solidFill>
            <a:srgbClr val="5B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448056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21C30"/>
                </a:solidFill>
                <a:latin typeface="Aptos"/>
              </a:defRPr>
            </a:pPr>
            <a:r>
              <a:t>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480560"/>
            <a:ext cx="2834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97789"/>
                </a:solidFill>
                <a:latin typeface="Aptos"/>
              </a:defRPr>
            </a:pPr>
            <a:r>
              <a:t>Review ride information and safety preferences.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97789"/>
                </a:solidFill>
                <a:latin typeface="Aptos"/>
              </a:defRPr>
            </a:pPr>
            <a:r>
              <a:t>WAYLO  /  BST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78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8229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DBFAB"/>
                </a:solidFill>
                <a:latin typeface="Aptos"/>
              </a:defRPr>
            </a:pPr>
            <a:r>
              <a:t>03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C30"/>
                </a:solidFill>
                <a:latin typeface="Aptos"/>
              </a:defRPr>
            </a:pPr>
            <a:r>
              <a:t>Meet Waylo.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98448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97789"/>
                </a:solidFill>
                <a:latin typeface="Aptos"/>
              </a:defRPr>
            </a:pPr>
            <a:r>
              <a:t>A carpooling platform designed around route overlap, recurring trips, transparent costs, and trust.</a:t>
            </a:r>
          </a:p>
        </p:txBody>
      </p:sp>
      <p:sp>
        <p:nvSpPr>
          <p:cNvPr id="5" name="Oval 4"/>
          <p:cNvSpPr/>
          <p:nvPr/>
        </p:nvSpPr>
        <p:spPr>
          <a:xfrm>
            <a:off x="5394960" y="1874519"/>
            <a:ext cx="1143000" cy="1143000"/>
          </a:xfrm>
          <a:prstGeom prst="ellipse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42432" y="2221992"/>
            <a:ext cx="457200" cy="457200"/>
          </a:xfrm>
          <a:prstGeom prst="ellipse">
            <a:avLst/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2359152"/>
            <a:ext cx="182880" cy="182880"/>
          </a:xfrm>
          <a:prstGeom prst="ellipse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3182112"/>
            <a:ext cx="4937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21C30"/>
                </a:solidFill>
                <a:latin typeface="Aptos"/>
              </a:defRPr>
            </a:pPr>
            <a:r>
              <a:t>Find your people along the 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069080"/>
            <a:ext cx="23317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4251960"/>
            <a:ext cx="2185415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21C30"/>
                </a:solidFill>
                <a:latin typeface="Aptos"/>
              </a:defRPr>
            </a:pPr>
            <a:r>
              <a:t>Route-aware matching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069080"/>
            <a:ext cx="23317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4251960"/>
            <a:ext cx="2185415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21C30"/>
                </a:solidFill>
                <a:latin typeface="Aptos"/>
              </a:defRPr>
            </a:pPr>
            <a:r>
              <a:t>Distance-based cost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3952" y="4069080"/>
            <a:ext cx="23317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4251960"/>
            <a:ext cx="2185415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21C30"/>
                </a:solidFill>
                <a:latin typeface="Aptos"/>
              </a:defRPr>
            </a:pPr>
            <a:r>
              <a:t>Recurring commutes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3728" y="4069080"/>
            <a:ext cx="22860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4251960"/>
            <a:ext cx="21396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21C30"/>
                </a:solidFill>
                <a:latin typeface="Aptos"/>
              </a:defRPr>
            </a:pPr>
            <a:r>
              <a:t>Safety preferences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10149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22E40"/>
                </a:solidFill>
                <a:latin typeface="Aptos"/>
              </a:defRPr>
            </a:pPr>
            <a:r>
              <a:t>A focused experience: discover a suitable ride, understand the cost, and make an informed choice.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97789"/>
                </a:solidFill>
                <a:latin typeface="Aptos"/>
              </a:defRPr>
            </a:pPr>
            <a:r>
              <a:t>WAYLO  /  BST HACKATHON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78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8229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DBFAB"/>
                </a:solidFill>
                <a:latin typeface="Aptos"/>
              </a:defRPr>
            </a:pPr>
            <a:r>
              <a:t>04 /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C30"/>
                </a:solidFill>
                <a:latin typeface="Aptos"/>
              </a:defRPr>
            </a:pPr>
            <a:r>
              <a:t>From trip details to a potential match.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98448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97789"/>
                </a:solidFill>
                <a:latin typeface="Aptos"/>
              </a:defRPr>
            </a:pPr>
            <a:r>
              <a:t>A simple workflow helps users understand why a ride is recommended.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95728"/>
            <a:ext cx="233172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99032" y="2011680"/>
            <a:ext cx="685800" cy="685800"/>
          </a:xfrm>
          <a:prstGeom prst="ellipse">
            <a:avLst/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2212848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21C3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21C30"/>
                </a:solidFill>
                <a:latin typeface="Aptos"/>
              </a:defRPr>
            </a:pPr>
            <a:r>
              <a:t>Enter 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47872"/>
            <a:ext cx="2057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97789"/>
                </a:solidFill>
                <a:latin typeface="Aptos"/>
              </a:defRPr>
            </a:pPr>
            <a:r>
              <a:t>Start • destination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697789"/>
                </a:solidFill>
                <a:latin typeface="Aptos"/>
              </a:defRPr>
            </a:pPr>
            <a:r>
              <a:t>time • travel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3136392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2DBFA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395728"/>
            <a:ext cx="233172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06824" y="2011680"/>
            <a:ext cx="685800" cy="685800"/>
          </a:xfrm>
          <a:prstGeom prst="ellipse">
            <a:avLst/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2212848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21C3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971800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21C30"/>
                </a:solidFill>
                <a:latin typeface="Aptos"/>
              </a:defRPr>
            </a:pPr>
            <a:r>
              <a:t>Compare routes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547872"/>
            <a:ext cx="2057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97789"/>
                </a:solidFill>
                <a:latin typeface="Aptos"/>
              </a:defRPr>
            </a:pPr>
            <a:r>
              <a:t>Overlap • timing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697789"/>
                </a:solidFill>
                <a:latin typeface="Aptos"/>
              </a:defRPr>
            </a:pPr>
            <a:r>
              <a:t>seats •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136392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2DBFA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2395728"/>
            <a:ext cx="233172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14616" y="2011680"/>
            <a:ext cx="685800" cy="685800"/>
          </a:xfrm>
          <a:prstGeom prst="ellipse">
            <a:avLst/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4616" y="2212848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21C3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971800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21C30"/>
                </a:solidFill>
                <a:latin typeface="Aptos"/>
              </a:defRPr>
            </a:pPr>
            <a:r>
              <a:t>Review options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547872"/>
            <a:ext cx="2057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97789"/>
                </a:solidFill>
                <a:latin typeface="Aptos"/>
              </a:defRPr>
            </a:pPr>
            <a:r>
              <a:t>Ride details • detour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697789"/>
                </a:solidFill>
                <a:latin typeface="Aptos"/>
              </a:defRPr>
            </a:pPr>
            <a:r>
              <a:t>estimated contribution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3136392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2DBFA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17736" y="2395728"/>
            <a:ext cx="233172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22408" y="2011680"/>
            <a:ext cx="685800" cy="685800"/>
          </a:xfrm>
          <a:prstGeom prst="ellipse">
            <a:avLst/>
          </a:prstGeom>
          <a:solidFill>
            <a:srgbClr val="F6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22408" y="2212848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21C3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971800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21C30"/>
                </a:solidFill>
                <a:latin typeface="Aptos"/>
              </a:defRPr>
            </a:pPr>
            <a:r>
              <a:t>Coordinate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3547872"/>
            <a:ext cx="2057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97789"/>
                </a:solidFill>
                <a:latin typeface="Aptos"/>
              </a:defRPr>
            </a:pPr>
            <a:r>
              <a:t>Request a seat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697789"/>
                </a:solidFill>
                <a:latin typeface="Aptos"/>
              </a:defRPr>
            </a:pPr>
            <a:r>
              <a:t>confirm the journey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138928"/>
            <a:ext cx="10241280" cy="59436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312664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DESIGN PRINCIPLE  /  Explain why a match is recommended—not just who matched.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97789"/>
                </a:solidFill>
                <a:latin typeface="Aptos"/>
              </a:defRPr>
            </a:pPr>
            <a:r>
              <a:t>WAYLO  /  BST HACKATHON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78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8229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DBFAB"/>
                </a:solidFill>
                <a:latin typeface="Aptos"/>
              </a:defRPr>
            </a:pPr>
            <a:r>
              <a:t>05 / PROTOTYPE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C30"/>
                </a:solidFill>
                <a:latin typeface="Aptos"/>
              </a:defRPr>
            </a:pPr>
            <a:r>
              <a:t>Working prototype completed.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98448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97789"/>
                </a:solidFill>
                <a:latin typeface="Aptos"/>
              </a:defRPr>
            </a:pPr>
            <a:r>
              <a:t>The current build uses HTML, CSS and JavaScript. The live demo should show the features that are genuinely implemented.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212080" cy="3611880"/>
          </a:xfrm>
          <a:prstGeom prst="roundRect">
            <a:avLst>
              <a:gd name="adj" fmla="val 10000"/>
            </a:avLst>
          </a:prstGeom>
          <a:solidFill>
            <a:srgbClr val="E2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212848"/>
            <a:ext cx="438912" cy="438912"/>
          </a:xfrm>
          <a:prstGeom prst="ellipse">
            <a:avLst/>
          </a:prstGeom>
          <a:solidFill>
            <a:srgbClr val="359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40864"/>
            <a:ext cx="43891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267712"/>
            <a:ext cx="374903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21C30"/>
                </a:solidFill>
                <a:latin typeface="Aptos"/>
              </a:defRPr>
            </a:pPr>
            <a:r>
              <a:t>Implemented in the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07792"/>
            <a:ext cx="4480560" cy="1965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22E40"/>
                </a:solidFill>
                <a:latin typeface="Aptos"/>
              </a:defRPr>
            </a:pPr>
            <a:r>
              <a:t>Confirm and list the exact working features before presenting: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22E40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222E40"/>
                </a:solidFill>
                <a:latin typeface="Aptos"/>
              </a:defRPr>
            </a:pPr>
            <a:r>
              <a:t>• [Working feature 1]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22E40"/>
                </a:solidFill>
                <a:latin typeface="Aptos"/>
              </a:defRPr>
            </a:pPr>
            <a:r>
              <a:t>• [Working feature 2]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22E40"/>
                </a:solidFill>
                <a:latin typeface="Aptos"/>
              </a:defRPr>
            </a:pPr>
            <a:r>
              <a:t>• [Working feature 3]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22E40"/>
                </a:solidFill>
                <a:latin typeface="Aptos"/>
              </a:defRPr>
            </a:pPr>
            <a:r>
              <a:t>• [Working feature 4]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20240"/>
            <a:ext cx="5212080" cy="3611880"/>
          </a:xfrm>
          <a:prstGeom prst="roundRect">
            <a:avLst>
              <a:gd name="adj" fmla="val 10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2212848"/>
            <a:ext cx="438912" cy="438912"/>
          </a:xfrm>
          <a:prstGeom prst="ellipse">
            <a:avLst/>
          </a:prstGeom>
          <a:solidFill>
            <a:srgbClr val="5B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340864"/>
            <a:ext cx="43891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2267712"/>
            <a:ext cx="374903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21C30"/>
                </a:solidFill>
                <a:latin typeface="Aptos"/>
              </a:defRPr>
            </a:pPr>
            <a:r>
              <a:t>Planned / 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07792"/>
            <a:ext cx="4480560" cy="1965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22E40"/>
                </a:solidFill>
                <a:latin typeface="Aptos"/>
              </a:defRPr>
            </a:pPr>
            <a:r>
              <a:t>Only label a feature as planned if it is not yet working: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22E40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222E40"/>
                </a:solidFill>
                <a:latin typeface="Aptos"/>
              </a:defRPr>
            </a:pPr>
            <a:r>
              <a:t>• Real identity verification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22E40"/>
                </a:solidFill>
                <a:latin typeface="Aptos"/>
              </a:defRPr>
            </a:pPr>
            <a:r>
              <a:t>• Genuine live GPS tracking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22E40"/>
                </a:solidFill>
                <a:latin typeface="Aptos"/>
              </a:defRPr>
            </a:pPr>
            <a:r>
              <a:t>• Production-ready user accounts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22E40"/>
                </a:solidFill>
                <a:latin typeface="Aptos"/>
              </a:defRPr>
            </a:pPr>
            <a:r>
              <a:t>• Live route / traffic API (if not integrated)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42432"/>
            <a:ext cx="10424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DC5D5D"/>
                </a:solidFill>
                <a:latin typeface="Aptos"/>
              </a:defRPr>
            </a:pPr>
            <a:r>
              <a:t>Important: replace the feature placeholders with your actual working features before presenting.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97789"/>
                </a:solidFill>
                <a:latin typeface="Aptos"/>
              </a:defRPr>
            </a:pPr>
            <a:r>
              <a:t>WAYLO  /  BST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78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8229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DBFAB"/>
                </a:solidFill>
                <a:latin typeface="Aptos"/>
              </a:defRPr>
            </a:pPr>
            <a:r>
              <a:t>06 / EXPECTED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Better commutes, with less friction.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98448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CDD9E6"/>
                </a:solidFill>
                <a:latin typeface="Aptos"/>
              </a:defRPr>
            </a:pPr>
            <a:r>
              <a:t>These are intended benefits to validate through testing—not results claimed before a pilot.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074920" cy="1188720"/>
          </a:xfrm>
          <a:prstGeom prst="roundRect">
            <a:avLst>
              <a:gd name="adj" fmla="val 10000"/>
            </a:avLst>
          </a:prstGeom>
          <a:solidFill>
            <a:srgbClr val="1D2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331720"/>
            <a:ext cx="457200" cy="457200"/>
          </a:xfrm>
          <a:prstGeom prst="ellipse">
            <a:avLst/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59736"/>
            <a:ext cx="4572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121C3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40280"/>
            <a:ext cx="3840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Cost clarity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624328"/>
            <a:ext cx="3886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FDAE7"/>
                </a:solidFill>
                <a:latin typeface="Aptos"/>
              </a:defRPr>
            </a:pPr>
            <a:r>
              <a:t>Show how each contribution is estimated.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057400"/>
            <a:ext cx="5074920" cy="1188720"/>
          </a:xfrm>
          <a:prstGeom prst="roundRect">
            <a:avLst>
              <a:gd name="adj" fmla="val 10000"/>
            </a:avLst>
          </a:prstGeom>
          <a:solidFill>
            <a:srgbClr val="1D2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59" y="2331720"/>
            <a:ext cx="457200" cy="457200"/>
          </a:xfrm>
          <a:prstGeom prst="ellipse">
            <a:avLst/>
          </a:prstGeom>
          <a:solidFill>
            <a:srgbClr val="F6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459736"/>
            <a:ext cx="4572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121C3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240280"/>
            <a:ext cx="3840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More ride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624328"/>
            <a:ext cx="3886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FDAE7"/>
                </a:solidFill>
                <a:latin typeface="Aptos"/>
              </a:defRPr>
            </a:pPr>
            <a:r>
              <a:t>Help commuters notice route and time overlap.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5074920" cy="1188720"/>
          </a:xfrm>
          <a:prstGeom prst="roundRect">
            <a:avLst>
              <a:gd name="adj" fmla="val 10000"/>
            </a:avLst>
          </a:prstGeom>
          <a:solidFill>
            <a:srgbClr val="1D2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886200"/>
            <a:ext cx="457200" cy="457200"/>
          </a:xfrm>
          <a:prstGeom prst="ellipse">
            <a:avLst/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14216"/>
            <a:ext cx="4572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121C3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94760"/>
            <a:ext cx="3840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Less 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178808"/>
            <a:ext cx="3886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FDAE7"/>
                </a:solidFill>
                <a:latin typeface="Aptos"/>
              </a:defRPr>
            </a:pPr>
            <a:r>
              <a:t>Keep trip details and recurring plans in one 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611880"/>
            <a:ext cx="5074920" cy="1188720"/>
          </a:xfrm>
          <a:prstGeom prst="roundRect">
            <a:avLst>
              <a:gd name="adj" fmla="val 10000"/>
            </a:avLst>
          </a:prstGeom>
          <a:solidFill>
            <a:srgbClr val="1D2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59" y="3886200"/>
            <a:ext cx="457200" cy="457200"/>
          </a:xfrm>
          <a:prstGeom prst="ellipse">
            <a:avLst/>
          </a:prstGeom>
          <a:solidFill>
            <a:srgbClr val="F6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4014216"/>
            <a:ext cx="4572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121C3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794760"/>
            <a:ext cx="3840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More informed choices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178808"/>
            <a:ext cx="3886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FDAE7"/>
                </a:solidFill>
                <a:latin typeface="Aptos"/>
              </a:defRPr>
            </a:pPr>
            <a:r>
              <a:t>Make profiles and safety preferences visible.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96128"/>
            <a:ext cx="10332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DBFAB"/>
                </a:solidFill>
                <a:latin typeface="Aptos"/>
              </a:defRPr>
            </a:pPr>
            <a:r>
              <a:t>Pilot metrics: successful matches • estimated savings • repeat rides • user-reported confidence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ABBCCF"/>
                </a:solidFill>
                <a:latin typeface="Aptos"/>
              </a:defRPr>
            </a:pPr>
            <a:r>
              <a:t>WAYLO  /  BST HACKATHON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BBCCF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" y="960120"/>
            <a:ext cx="1645920" cy="1645920"/>
          </a:xfrm>
          <a:prstGeom prst="ellipse">
            <a:avLst/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81328" y="1435608"/>
            <a:ext cx="694944" cy="694944"/>
          </a:xfrm>
          <a:prstGeom prst="ellipse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3090672"/>
            <a:ext cx="2697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WAYLO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767328"/>
            <a:ext cx="26974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DCE6F0"/>
                </a:solidFill>
                <a:latin typeface="Aptos"/>
              </a:defRPr>
            </a:pPr>
            <a:r>
              <a:t>Same direction.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DCE6F0"/>
                </a:solidFill>
                <a:latin typeface="Aptos"/>
              </a:defRPr>
            </a:pPr>
            <a:r>
              <a:t>Shared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70432"/>
            <a:ext cx="6583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C30"/>
                </a:solidFill>
                <a:latin typeface="Aptos"/>
              </a:defRPr>
            </a:pPr>
            <a:r>
              <a:t>A better way to get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61264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22E40"/>
                </a:solidFill>
                <a:latin typeface="Aptos"/>
              </a:defRPr>
            </a:pPr>
            <a:r>
              <a:t>Waylo aims to make shared commuting easier to discover, fairer to pay for, and safer to consider.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246120"/>
            <a:ext cx="1051560" cy="54864"/>
          </a:xfrm>
          <a:prstGeom prst="roundRect">
            <a:avLst>
              <a:gd name="adj" fmla="val 10000"/>
            </a:avLst>
          </a:prstGeom>
          <a:solidFill>
            <a:srgbClr val="2DB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703320"/>
            <a:ext cx="6126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DBFAB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279392"/>
            <a:ext cx="6217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97789"/>
                </a:solidFill>
                <a:latin typeface="Aptos"/>
              </a:defRPr>
            </a:pPr>
            <a:r>
              <a:t>Questions?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697789"/>
                </a:solidFill>
                <a:latin typeface="Aptos"/>
              </a:defRPr>
            </a:pPr>
            <a:r>
              <a:t>Team details: to be added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5623560"/>
            <a:ext cx="6309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97789"/>
                </a:solidFill>
                <a:latin typeface="Aptos"/>
              </a:defRPr>
            </a:pPr>
            <a:r>
              <a:t>Demo claims should always match what the submitted prototype can actually 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97789"/>
                </a:solidFill>
                <a:latin typeface="Aptos"/>
              </a:defRPr>
            </a:pPr>
            <a:r>
              <a:t>WAYLO  /  BST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78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